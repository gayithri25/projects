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974"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C8619975-09B3-45A9-981B-24156A02B11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363897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8619975-09B3-45A9-981B-24156A02B11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13829442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C8619975-09B3-45A9-981B-24156A02B11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32083458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C8619975-09B3-45A9-981B-24156A02B11A}"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41084309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C8619975-09B3-45A9-981B-24156A02B11A}"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770302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C8619975-09B3-45A9-981B-24156A02B11A}"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2260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619975-09B3-45A9-981B-24156A02B11A}" type="datetimeFigureOut">
              <a:rPr lang="en-US" smtClean="0"/>
              <a:t>3/26/2026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1737124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C8619975-09B3-45A9-981B-24156A02B11A}"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348877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C8619975-09B3-45A9-981B-24156A02B11A}"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28023083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8619975-09B3-45A9-981B-24156A02B11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973167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C8619975-09B3-45A9-981B-24156A02B11A}"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8EBE27D-6BE1-4123-A15D-30EC878A573F}" type="slidenum">
              <a:rPr lang="en-US" smtClean="0"/>
              <a:t>‹#›</a:t>
            </a:fld>
            <a:endParaRPr lang="en-US"/>
          </a:p>
        </p:txBody>
      </p:sp>
    </p:spTree>
    <p:extLst>
      <p:ext uri="{BB962C8B-B14F-4D97-AF65-F5344CB8AC3E}">
        <p14:creationId xmlns:p14="http://schemas.microsoft.com/office/powerpoint/2010/main" val="2613128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619975-09B3-45A9-981B-24156A02B11A}" type="datetimeFigureOut">
              <a:rPr lang="en-US" smtClean="0"/>
              <a:t>3/26/2026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EBE27D-6BE1-4123-A15D-30EC878A573F}" type="slidenum">
              <a:rPr lang="en-US" smtClean="0"/>
              <a:t>‹#›</a:t>
            </a:fld>
            <a:endParaRPr lang="en-US"/>
          </a:p>
        </p:txBody>
      </p:sp>
    </p:spTree>
    <p:extLst>
      <p:ext uri="{BB962C8B-B14F-4D97-AF65-F5344CB8AC3E}">
        <p14:creationId xmlns:p14="http://schemas.microsoft.com/office/powerpoint/2010/main" val="10889473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524000" y="5110480"/>
            <a:ext cx="9144000" cy="147320"/>
          </a:xfrm>
        </p:spPr>
        <p:txBody>
          <a:bodyPr>
            <a:normAutofit fontScale="25000" lnSpcReduction="20000"/>
          </a:bodyPr>
          <a:lstStyle/>
          <a:p>
            <a:endParaRPr lang="en-US" dirty="0"/>
          </a:p>
        </p:txBody>
      </p:sp>
      <p:pic>
        <p:nvPicPr>
          <p:cNvPr id="1030" name="Picture 6" descr="https://anoudtechnologies.com/wp-content/uploads/2021/01/banner0033.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621801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43840"/>
            <a:ext cx="10515600" cy="6167120"/>
          </a:xfrm>
        </p:spPr>
        <p:txBody>
          <a:bodyPr/>
          <a:lstStyle/>
          <a:p>
            <a:pPr marL="0" indent="0">
              <a:buNone/>
            </a:pPr>
            <a:r>
              <a:rPr lang="en-US" sz="1600" dirty="0" err="1" smtClean="0">
                <a:solidFill>
                  <a:srgbClr val="C00000"/>
                </a:solidFill>
                <a:latin typeface="Times New Roman" panose="02020603050405020304" pitchFamily="18" charset="0"/>
                <a:cs typeface="Times New Roman" panose="02020603050405020304" pitchFamily="18" charset="0"/>
              </a:rPr>
              <a:t>Anoud</a:t>
            </a:r>
            <a:r>
              <a:rPr lang="en-US" sz="1600" dirty="0" smtClean="0">
                <a:solidFill>
                  <a:srgbClr val="C00000"/>
                </a:solidFill>
                <a:latin typeface="Times New Roman" panose="02020603050405020304" pitchFamily="18" charset="0"/>
                <a:cs typeface="Times New Roman" panose="02020603050405020304" pitchFamily="18" charset="0"/>
              </a:rPr>
              <a:t> :</a:t>
            </a:r>
            <a:r>
              <a:rPr lang="en-US" sz="1600" dirty="0" smtClean="0">
                <a:solidFill>
                  <a:srgbClr val="FF0000"/>
                </a:solidFill>
                <a:latin typeface="Times New Roman" panose="02020603050405020304" pitchFamily="18" charset="0"/>
                <a:cs typeface="Times New Roman" panose="02020603050405020304" pitchFamily="18" charset="0"/>
              </a:rPr>
              <a:t>  </a:t>
            </a:r>
            <a:r>
              <a:rPr lang="en-GB" sz="1600" dirty="0" err="1" smtClean="0">
                <a:latin typeface="Times New Roman" panose="02020603050405020304" pitchFamily="18" charset="0"/>
                <a:cs typeface="Times New Roman" panose="02020603050405020304" pitchFamily="18" charset="0"/>
              </a:rPr>
              <a:t>Anoud</a:t>
            </a:r>
            <a:r>
              <a:rPr lang="en-GB" sz="1600" dirty="0" smtClean="0">
                <a:latin typeface="Times New Roman" panose="02020603050405020304" pitchFamily="18" charset="0"/>
                <a:cs typeface="Times New Roman" panose="02020603050405020304" pitchFamily="18" charset="0"/>
              </a:rPr>
              <a:t> is a technology company that builds software solutions for insurance companies to manage their entire business digitally.</a:t>
            </a:r>
            <a:endParaRPr lang="en-US" sz="1600" dirty="0">
              <a:solidFill>
                <a:srgbClr val="FF0000"/>
              </a:solidFill>
              <a:latin typeface="Times New Roman" panose="02020603050405020304" pitchFamily="18" charset="0"/>
              <a:cs typeface="Times New Roman" panose="02020603050405020304" pitchFamily="18" charset="0"/>
            </a:endParaRPr>
          </a:p>
          <a:p>
            <a:pPr marL="0" indent="0">
              <a:buNone/>
            </a:pPr>
            <a:r>
              <a:rPr lang="en-US" sz="1600" dirty="0" smtClean="0">
                <a:solidFill>
                  <a:srgbClr val="C00000"/>
                </a:solidFill>
                <a:latin typeface="Times New Roman" panose="02020603050405020304" pitchFamily="18" charset="0"/>
                <a:cs typeface="Times New Roman" panose="02020603050405020304" pitchFamily="18" charset="0"/>
              </a:rPr>
              <a:t>Product : </a:t>
            </a:r>
            <a:r>
              <a:rPr lang="en-GB" sz="1600" b="1" dirty="0" err="1" smtClean="0">
                <a:latin typeface="Times New Roman" panose="02020603050405020304" pitchFamily="18" charset="0"/>
                <a:cs typeface="Times New Roman" panose="02020603050405020304" pitchFamily="18" charset="0"/>
              </a:rPr>
              <a:t>Anoud</a:t>
            </a:r>
            <a:r>
              <a:rPr lang="en-GB" sz="1600" b="1" dirty="0" smtClean="0">
                <a:latin typeface="Times New Roman" panose="02020603050405020304" pitchFamily="18" charset="0"/>
                <a:cs typeface="Times New Roman" panose="02020603050405020304" pitchFamily="18" charset="0"/>
              </a:rPr>
              <a:t>+</a:t>
            </a:r>
            <a:r>
              <a:rPr lang="en-GB" sz="1600" dirty="0" smtClean="0">
                <a:latin typeface="Times New Roman" panose="02020603050405020304" pitchFamily="18" charset="0"/>
                <a:cs typeface="Times New Roman" panose="02020603050405020304" pitchFamily="18" charset="0"/>
              </a:rPr>
              <a:t> is a </a:t>
            </a:r>
            <a:r>
              <a:rPr lang="en-GB" sz="1600" b="1" dirty="0" smtClean="0">
                <a:latin typeface="Times New Roman" panose="02020603050405020304" pitchFamily="18" charset="0"/>
                <a:cs typeface="Times New Roman" panose="02020603050405020304" pitchFamily="18" charset="0"/>
              </a:rPr>
              <a:t>cloud-based insurance software platform</a:t>
            </a:r>
            <a:r>
              <a:rPr lang="en-GB" sz="1600" dirty="0" smtClean="0">
                <a:latin typeface="Times New Roman" panose="02020603050405020304" pitchFamily="18" charset="0"/>
                <a:cs typeface="Times New Roman" panose="02020603050405020304" pitchFamily="18" charset="0"/>
              </a:rPr>
              <a:t> used by insurance companies to manage their entire business in one place.</a:t>
            </a:r>
          </a:p>
          <a:p>
            <a:pPr marL="0" indent="0">
              <a:buNone/>
            </a:pPr>
            <a:r>
              <a:rPr lang="en-GB" sz="1600" dirty="0" smtClean="0">
                <a:solidFill>
                  <a:srgbClr val="C00000"/>
                </a:solidFill>
                <a:latin typeface="Times New Roman" panose="02020603050405020304" pitchFamily="18" charset="0"/>
                <a:cs typeface="Times New Roman" panose="02020603050405020304" pitchFamily="18" charset="0"/>
              </a:rPr>
              <a:t>What </a:t>
            </a:r>
            <a:r>
              <a:rPr lang="en-GB" sz="1600" dirty="0" err="1" smtClean="0">
                <a:solidFill>
                  <a:srgbClr val="C00000"/>
                </a:solidFill>
                <a:latin typeface="Times New Roman" panose="02020603050405020304" pitchFamily="18" charset="0"/>
                <a:cs typeface="Times New Roman" panose="02020603050405020304" pitchFamily="18" charset="0"/>
              </a:rPr>
              <a:t>Anoud</a:t>
            </a:r>
            <a:r>
              <a:rPr lang="en-GB" sz="1600" dirty="0" smtClean="0">
                <a:solidFill>
                  <a:srgbClr val="C00000"/>
                </a:solidFill>
                <a:latin typeface="Times New Roman" panose="02020603050405020304" pitchFamily="18" charset="0"/>
                <a:cs typeface="Times New Roman" panose="02020603050405020304" pitchFamily="18" charset="0"/>
              </a:rPr>
              <a:t>+ does : </a:t>
            </a:r>
            <a:r>
              <a:rPr lang="en-GB" sz="1600" dirty="0" smtClean="0">
                <a:latin typeface="Times New Roman" panose="02020603050405020304" pitchFamily="18" charset="0"/>
                <a:cs typeface="Times New Roman" panose="02020603050405020304" pitchFamily="18" charset="0"/>
              </a:rPr>
              <a:t>It handles the </a:t>
            </a:r>
            <a:r>
              <a:rPr lang="en-GB" sz="1600" b="1" dirty="0" smtClean="0">
                <a:latin typeface="Times New Roman" panose="02020603050405020304" pitchFamily="18" charset="0"/>
                <a:cs typeface="Times New Roman" panose="02020603050405020304" pitchFamily="18" charset="0"/>
              </a:rPr>
              <a:t>complete insurance lifecycle</a:t>
            </a:r>
            <a:r>
              <a:rPr lang="en-GB" sz="1600" dirty="0">
                <a:latin typeface="Times New Roman" panose="02020603050405020304" pitchFamily="18" charset="0"/>
                <a:cs typeface="Times New Roman" panose="02020603050405020304" pitchFamily="18" charset="0"/>
              </a:rPr>
              <a:t> </a:t>
            </a:r>
            <a:r>
              <a:rPr lang="en-GB" sz="1600" dirty="0" smtClean="0">
                <a:latin typeface="Times New Roman" panose="02020603050405020304" pitchFamily="18" charset="0"/>
                <a:cs typeface="Times New Roman" panose="02020603050405020304" pitchFamily="18" charset="0"/>
              </a:rPr>
              <a:t>Customer </a:t>
            </a:r>
            <a:r>
              <a:rPr lang="en-GB" sz="1600" dirty="0" err="1" smtClean="0">
                <a:latin typeface="Times New Roman" panose="02020603050405020304" pitchFamily="18" charset="0"/>
                <a:cs typeface="Times New Roman" panose="02020603050405020304" pitchFamily="18" charset="0"/>
              </a:rPr>
              <a:t>onboarding</a:t>
            </a:r>
            <a:r>
              <a:rPr lang="en-GB" sz="1600" dirty="0" smtClean="0">
                <a:latin typeface="Times New Roman" panose="02020603050405020304" pitchFamily="18" charset="0"/>
                <a:cs typeface="Times New Roman" panose="02020603050405020304" pitchFamily="18" charset="0"/>
              </a:rPr>
              <a:t> , Policy creation and management , Premium calculation , Claims processing , Reports and analytics.</a:t>
            </a:r>
          </a:p>
          <a:p>
            <a:pPr marL="0" indent="0">
              <a:buNone/>
            </a:pPr>
            <a:r>
              <a:rPr lang="en-GB" sz="1600" dirty="0" smtClean="0">
                <a:solidFill>
                  <a:srgbClr val="C00000"/>
                </a:solidFill>
                <a:latin typeface="Times New Roman" panose="02020603050405020304" pitchFamily="18" charset="0"/>
                <a:cs typeface="Times New Roman" panose="02020603050405020304" pitchFamily="18" charset="0"/>
              </a:rPr>
              <a:t>Contribution :</a:t>
            </a:r>
            <a:r>
              <a:rPr lang="en-GB" sz="1600" dirty="0" smtClean="0">
                <a:solidFill>
                  <a:srgbClr val="FF0000"/>
                </a:solidFill>
                <a:latin typeface="Times New Roman" panose="02020603050405020304" pitchFamily="18" charset="0"/>
                <a:cs typeface="Times New Roman" panose="02020603050405020304" pitchFamily="18" charset="0"/>
              </a:rPr>
              <a:t> </a:t>
            </a:r>
            <a:r>
              <a:rPr lang="en-GB" sz="1600" dirty="0" smtClean="0">
                <a:latin typeface="Times New Roman" panose="02020603050405020304" pitchFamily="18" charset="0"/>
                <a:cs typeface="Times New Roman" panose="02020603050405020304" pitchFamily="18" charset="0"/>
              </a:rPr>
              <a:t>In the </a:t>
            </a:r>
            <a:r>
              <a:rPr lang="en-GB" sz="1600" dirty="0" err="1" smtClean="0">
                <a:latin typeface="Times New Roman" panose="02020603050405020304" pitchFamily="18" charset="0"/>
                <a:cs typeface="Times New Roman" panose="02020603050405020304" pitchFamily="18" charset="0"/>
              </a:rPr>
              <a:t>Anoud</a:t>
            </a:r>
            <a:r>
              <a:rPr lang="en-GB" sz="1600" dirty="0" smtClean="0">
                <a:latin typeface="Times New Roman" panose="02020603050405020304" pitchFamily="18" charset="0"/>
                <a:cs typeface="Times New Roman" panose="02020603050405020304" pitchFamily="18" charset="0"/>
              </a:rPr>
              <a:t>+ project, I work on backend development where I build REST APIs, implement business logic for insurance processes like policy and premium, handle database operations, fix bugs, and customize the application based on client requirements.</a:t>
            </a:r>
          </a:p>
          <a:p>
            <a:pPr marL="0" indent="0">
              <a:buNone/>
            </a:pPr>
            <a:r>
              <a:rPr lang="en-GB" sz="1600" dirty="0" smtClean="0">
                <a:solidFill>
                  <a:srgbClr val="C00000"/>
                </a:solidFill>
                <a:latin typeface="Times New Roman" panose="02020603050405020304" pitchFamily="18" charset="0"/>
                <a:cs typeface="Times New Roman" panose="02020603050405020304" pitchFamily="18" charset="0"/>
              </a:rPr>
              <a:t>Clients : </a:t>
            </a:r>
            <a:r>
              <a:rPr lang="en-GB" sz="1600" dirty="0" err="1" smtClean="0">
                <a:latin typeface="Times New Roman" panose="02020603050405020304" pitchFamily="18" charset="0"/>
                <a:cs typeface="Times New Roman" panose="02020603050405020304" pitchFamily="18" charset="0"/>
              </a:rPr>
              <a:t>Anoud</a:t>
            </a:r>
            <a:r>
              <a:rPr lang="en-GB" sz="1600" dirty="0" smtClean="0">
                <a:latin typeface="Times New Roman" panose="02020603050405020304" pitchFamily="18" charset="0"/>
                <a:cs typeface="Times New Roman" panose="02020603050405020304" pitchFamily="18" charset="0"/>
              </a:rPr>
              <a:t> Technologies primarily serves insurance companies across the MENA region, Europe, and the Caribbean. These clients use the </a:t>
            </a:r>
            <a:r>
              <a:rPr lang="en-GB" sz="1600" dirty="0" err="1" smtClean="0">
                <a:latin typeface="Times New Roman" panose="02020603050405020304" pitchFamily="18" charset="0"/>
                <a:cs typeface="Times New Roman" panose="02020603050405020304" pitchFamily="18" charset="0"/>
              </a:rPr>
              <a:t>Anoud</a:t>
            </a:r>
            <a:r>
              <a:rPr lang="en-GB" sz="1600" dirty="0" smtClean="0">
                <a:latin typeface="Times New Roman" panose="02020603050405020304" pitchFamily="18" charset="0"/>
                <a:cs typeface="Times New Roman" panose="02020603050405020304" pitchFamily="18" charset="0"/>
              </a:rPr>
              <a:t>+ platform to manage their insurance operations and digital transformation.</a:t>
            </a:r>
          </a:p>
          <a:p>
            <a:pPr marL="0" indent="0">
              <a:buNone/>
            </a:pPr>
            <a:r>
              <a:rPr lang="en-GB" sz="1600" dirty="0" smtClean="0">
                <a:solidFill>
                  <a:srgbClr val="C00000"/>
                </a:solidFill>
                <a:latin typeface="Times New Roman" panose="02020603050405020304" pitchFamily="18" charset="0"/>
                <a:cs typeface="Times New Roman" panose="02020603050405020304" pitchFamily="18" charset="0"/>
              </a:rPr>
              <a:t>Modules : </a:t>
            </a:r>
            <a:r>
              <a:rPr lang="en-GB" sz="1600" dirty="0" err="1" smtClean="0">
                <a:latin typeface="Times New Roman" panose="02020603050405020304" pitchFamily="18" charset="0"/>
                <a:cs typeface="Times New Roman" panose="02020603050405020304" pitchFamily="18" charset="0"/>
              </a:rPr>
              <a:t>Anoud</a:t>
            </a:r>
            <a:r>
              <a:rPr lang="en-GB" sz="1600" dirty="0" smtClean="0">
                <a:latin typeface="Times New Roman" panose="02020603050405020304" pitchFamily="18" charset="0"/>
                <a:cs typeface="Times New Roman" panose="02020603050405020304" pitchFamily="18" charset="0"/>
              </a:rPr>
              <a:t>+ consists of multiple modules such as policy management, premium calculation, underwriting, claims management, customer management, insurance-specific modules like medical and motor, analytics, and compliance. Each module handles a specific part of the insurance lifecycle.</a:t>
            </a:r>
          </a:p>
          <a:p>
            <a:pPr marL="0" indent="0">
              <a:buNone/>
            </a:pPr>
            <a:r>
              <a:rPr lang="en-GB" sz="1600" dirty="0" smtClean="0">
                <a:solidFill>
                  <a:srgbClr val="C00000"/>
                </a:solidFill>
                <a:latin typeface="Times New Roman" panose="02020603050405020304" pitchFamily="18" charset="0"/>
                <a:cs typeface="Times New Roman" panose="02020603050405020304" pitchFamily="18" charset="0"/>
              </a:rPr>
              <a:t>Partners : </a:t>
            </a:r>
            <a:r>
              <a:rPr lang="en-GB" sz="1600" dirty="0" err="1" smtClean="0">
                <a:latin typeface="Times New Roman" panose="02020603050405020304" pitchFamily="18" charset="0"/>
                <a:cs typeface="Times New Roman" panose="02020603050405020304" pitchFamily="18" charset="0"/>
              </a:rPr>
              <a:t>Anoud</a:t>
            </a:r>
            <a:r>
              <a:rPr lang="en-GB" sz="1600" dirty="0" smtClean="0">
                <a:latin typeface="Times New Roman" panose="02020603050405020304" pitchFamily="18" charset="0"/>
                <a:cs typeface="Times New Roman" panose="02020603050405020304" pitchFamily="18" charset="0"/>
              </a:rPr>
              <a:t> partners with global insurance leaders and technology providers like Qatar Insurance Group, Swiss Re, and ACORD to deliver a complete digital insurance platform.</a:t>
            </a:r>
            <a:endParaRPr lang="en-GB" sz="1600" dirty="0" smtClean="0">
              <a:solidFill>
                <a:srgbClr val="C00000"/>
              </a:solidFill>
              <a:latin typeface="Times New Roman" panose="02020603050405020304" pitchFamily="18" charset="0"/>
              <a:cs typeface="Times New Roman" panose="02020603050405020304" pitchFamily="18" charset="0"/>
            </a:endParaRPr>
          </a:p>
          <a:p>
            <a:pPr marL="0" indent="0">
              <a:buNone/>
            </a:pPr>
            <a:r>
              <a:rPr lang="en-GB" sz="1600" dirty="0" smtClean="0">
                <a:solidFill>
                  <a:srgbClr val="C00000"/>
                </a:solidFill>
                <a:latin typeface="Times New Roman" panose="02020603050405020304" pitchFamily="18" charset="0"/>
                <a:cs typeface="Times New Roman" panose="02020603050405020304" pitchFamily="18" charset="0"/>
              </a:rPr>
              <a:t>Policies :</a:t>
            </a:r>
            <a:r>
              <a:rPr lang="en-GB" sz="1600" dirty="0" smtClean="0">
                <a:solidFill>
                  <a:srgbClr val="FF0000"/>
                </a:solidFill>
                <a:latin typeface="Times New Roman" panose="02020603050405020304" pitchFamily="18" charset="0"/>
                <a:cs typeface="Times New Roman" panose="02020603050405020304" pitchFamily="18" charset="0"/>
              </a:rPr>
              <a:t> </a:t>
            </a:r>
            <a:r>
              <a:rPr lang="en-GB" sz="1600" dirty="0" err="1" smtClean="0">
                <a:latin typeface="Times New Roman" panose="02020603050405020304" pitchFamily="18" charset="0"/>
                <a:cs typeface="Times New Roman" panose="02020603050405020304" pitchFamily="18" charset="0"/>
              </a:rPr>
              <a:t>Anoud</a:t>
            </a:r>
            <a:r>
              <a:rPr lang="en-GB" sz="1600" dirty="0" smtClean="0">
                <a:latin typeface="Times New Roman" panose="02020603050405020304" pitchFamily="18" charset="0"/>
                <a:cs typeface="Times New Roman" panose="02020603050405020304" pitchFamily="18" charset="0"/>
              </a:rPr>
              <a:t>+ supports multiple insurance policies such as motor insurance (including comprehensive and third-party), medical, life, travel, corporate, property, and liability insurance. These policies are configurable based on client requirements.</a:t>
            </a:r>
          </a:p>
          <a:p>
            <a:pPr marL="0" indent="0">
              <a:buNone/>
            </a:pPr>
            <a:r>
              <a:rPr lang="en-GB" sz="1600" dirty="0" smtClean="0">
                <a:solidFill>
                  <a:srgbClr val="C00000"/>
                </a:solidFill>
                <a:latin typeface="Times New Roman" panose="02020603050405020304" pitchFamily="18" charset="0"/>
                <a:cs typeface="Times New Roman" panose="02020603050405020304" pitchFamily="18" charset="0"/>
              </a:rPr>
              <a:t>Who Uses </a:t>
            </a:r>
            <a:r>
              <a:rPr lang="en-GB" sz="1600" dirty="0" err="1" smtClean="0">
                <a:solidFill>
                  <a:srgbClr val="C00000"/>
                </a:solidFill>
                <a:latin typeface="Times New Roman" panose="02020603050405020304" pitchFamily="18" charset="0"/>
                <a:cs typeface="Times New Roman" panose="02020603050405020304" pitchFamily="18" charset="0"/>
              </a:rPr>
              <a:t>Anoud</a:t>
            </a:r>
            <a:r>
              <a:rPr lang="en-GB" sz="1600" dirty="0" smtClean="0">
                <a:solidFill>
                  <a:srgbClr val="C00000"/>
                </a:solidFill>
                <a:latin typeface="Times New Roman" panose="02020603050405020304" pitchFamily="18" charset="0"/>
                <a:cs typeface="Times New Roman" panose="02020603050405020304" pitchFamily="18" charset="0"/>
              </a:rPr>
              <a:t>+ : </a:t>
            </a:r>
            <a:r>
              <a:rPr lang="en-GB" sz="1600" dirty="0" err="1" smtClean="0"/>
              <a:t>Anoud</a:t>
            </a:r>
            <a:r>
              <a:rPr lang="en-GB" sz="1600" dirty="0" smtClean="0"/>
              <a:t>+ is mainly used by insurance companies, including life, health, and motor insurers, as well as reinsurance companies and large insurance groups. It is used by different departments like underwriting, claims, and operations teams to manage the complete insurance lifecycle digitally.</a:t>
            </a:r>
            <a:endParaRPr lang="en-GB" sz="1600" dirty="0" smtClean="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417540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TotalTime>
  <Words>326</Words>
  <Application>Microsoft Office PowerPoint</Application>
  <PresentationFormat>Widescreen</PresentationFormat>
  <Paragraphs>9</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Arial</vt:lpstr>
      <vt:lpstr>Calibri</vt:lpstr>
      <vt:lpstr>Calibri Light</vt:lpstr>
      <vt:lpstr>Times New Roman</vt:lpstr>
      <vt:lpstr>Office Theme</vt:lpstr>
      <vt:lpstr>PowerPoint Presentation</vt:lpstr>
      <vt:lpstr>PowerPoint Presentation</vt:lpstr>
    </vt:vector>
  </TitlesOfParts>
  <Company>HP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karthickbrn@outlook.com</dc:creator>
  <cp:lastModifiedBy>karthickbrn@outlook.com</cp:lastModifiedBy>
  <cp:revision>8</cp:revision>
  <dcterms:created xsi:type="dcterms:W3CDTF">2026-03-26T16:20:34Z</dcterms:created>
  <dcterms:modified xsi:type="dcterms:W3CDTF">2026-03-26T18:09:03Z</dcterms:modified>
</cp:coreProperties>
</file>